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Housing starts</c:v>
                </c:pt>
              </c:strCache>
            </c:strRef>
          </c:tx>
          <c:spPr>
            <a:ln w="31750">
              <a:solidFill>
                <a:srgbClr val="1F3864"/>
              </a:solidFill>
            </a:ln>
          </c:spP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 YTD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100.0</c:v>
                </c:pt>
                <c:pt idx="1">
                  <c:v>108.0</c:v>
                </c:pt>
                <c:pt idx="2">
                  <c:v>124.1</c:v>
                </c:pt>
                <c:pt idx="3">
                  <c:v>120.0</c:v>
                </c:pt>
                <c:pt idx="4">
                  <c:v>110.0</c:v>
                </c:pt>
                <c:pt idx="5">
                  <c:v>106.1</c:v>
                </c:pt>
                <c:pt idx="6">
                  <c:v>105.0</c:v>
                </c:pt>
                <c:pt idx="7">
                  <c:v>104.7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construction spending</c:v>
                </c:pt>
              </c:strCache>
            </c:strRef>
          </c:tx>
          <c:spPr>
            <a:ln w="31750">
              <a:solidFill>
                <a:srgbClr val="2E75B6"/>
              </a:solidFill>
            </a:ln>
          </c:spP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 YTD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100.0</c:v>
                </c:pt>
                <c:pt idx="1">
                  <c:v>107.9</c:v>
                </c:pt>
                <c:pt idx="2">
                  <c:v>119.0</c:v>
                </c:pt>
                <c:pt idx="3">
                  <c:v>136.7</c:v>
                </c:pt>
                <c:pt idx="4">
                  <c:v>149.2</c:v>
                </c:pt>
                <c:pt idx="5">
                  <c:v>161.0</c:v>
                </c:pt>
                <c:pt idx="6">
                  <c:v>161.5</c:v>
                </c:pt>
                <c:pt idx="7">
                  <c:v>157.3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Highway &amp; street spending</c:v>
                </c:pt>
              </c:strCache>
            </c:strRef>
          </c:tx>
          <c:spPr>
            <a:ln w="31750">
              <a:solidFill>
                <a:srgbClr val="BF8F00"/>
              </a:solidFill>
            </a:ln>
          </c:spP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 YTD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100.0</c:v>
                </c:pt>
                <c:pt idx="1">
                  <c:v>103.7</c:v>
                </c:pt>
                <c:pt idx="2">
                  <c:v>104.2</c:v>
                </c:pt>
                <c:pt idx="3">
                  <c:v>115.7</c:v>
                </c:pt>
                <c:pt idx="4">
                  <c:v>139.9</c:v>
                </c:pt>
                <c:pt idx="5">
                  <c:v>149.8</c:v>
                </c:pt>
                <c:pt idx="6">
                  <c:v>148.5</c:v>
                </c:pt>
                <c:pt idx="7">
                  <c:v>152.3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PPI: construction materials</c:v>
                </c:pt>
              </c:strCache>
            </c:strRef>
          </c:tx>
          <c:spPr>
            <a:ln w="31750">
              <a:solidFill>
                <a:srgbClr val="7F7F7F"/>
              </a:solidFill>
            </a:ln>
          </c:spP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 YTD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100.0</c:v>
                </c:pt>
                <c:pt idx="1">
                  <c:v>101.5</c:v>
                </c:pt>
                <c:pt idx="2">
                  <c:v>128.7</c:v>
                </c:pt>
                <c:pt idx="3">
                  <c:v>144.9</c:v>
                </c:pt>
                <c:pt idx="4">
                  <c:v>140.8</c:v>
                </c:pt>
                <c:pt idx="5">
                  <c:v>139.4</c:v>
                </c:pt>
                <c:pt idx="6">
                  <c:v>143.3</c:v>
                </c:pt>
                <c:pt idx="7">
                  <c:v>154.5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Aggregates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FY2026F</c:v>
                </c:pt>
                <c:pt idx="1">
                  <c:v>FY2027B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  <c:pt idx="5">
                  <c:v>FY2031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595.6</c:v>
                </c:pt>
                <c:pt idx="1">
                  <c:v>665.7</c:v>
                </c:pt>
                <c:pt idx="2">
                  <c:v>742.2</c:v>
                </c:pt>
                <c:pt idx="3">
                  <c:v>831.0</c:v>
                </c:pt>
                <c:pt idx="4">
                  <c:v>881.4</c:v>
                </c:pt>
                <c:pt idx="5">
                  <c:v>934.7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Cement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Sheet1!$A$2:$A$7</c:f>
              <c:strCache>
                <c:ptCount val="6"/>
                <c:pt idx="0">
                  <c:v>FY2026F</c:v>
                </c:pt>
                <c:pt idx="1">
                  <c:v>FY2027B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  <c:pt idx="5">
                  <c:v>FY2031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435.0</c:v>
                </c:pt>
                <c:pt idx="1">
                  <c:v>442.0</c:v>
                </c:pt>
                <c:pt idx="2">
                  <c:v>481.1</c:v>
                </c:pt>
                <c:pt idx="3">
                  <c:v>521.0</c:v>
                </c:pt>
                <c:pt idx="4">
                  <c:v>546.4</c:v>
                </c:pt>
                <c:pt idx="5">
                  <c:v>572.9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Ready-Mix Concrete</c:v>
                </c:pt>
              </c:strCache>
            </c:strRef>
          </c:tx>
          <c:spPr>
            <a:solidFill>
              <a:srgbClr val="BF8F00"/>
            </a:solidFill>
          </c:spPr>
          <c:cat>
            <c:strRef>
              <c:f>Sheet1!$A$2:$A$7</c:f>
              <c:strCache>
                <c:ptCount val="6"/>
                <c:pt idx="0">
                  <c:v>FY2026F</c:v>
                </c:pt>
                <c:pt idx="1">
                  <c:v>FY2027B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  <c:pt idx="5">
                  <c:v>FY2031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218.6</c:v>
                </c:pt>
                <c:pt idx="1">
                  <c:v>228.2</c:v>
                </c:pt>
                <c:pt idx="2">
                  <c:v>251.9</c:v>
                </c:pt>
                <c:pt idx="3">
                  <c:v>277.8</c:v>
                </c:pt>
                <c:pt idx="4">
                  <c:v>279.6</c:v>
                </c:pt>
                <c:pt idx="5">
                  <c:v>281.0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Asphalt &amp; Paving</c:v>
                </c:pt>
              </c:strCache>
            </c:strRef>
          </c:tx>
          <c:spPr>
            <a:solidFill>
              <a:srgbClr val="7F7F7F"/>
            </a:solidFill>
          </c:spPr>
          <c:cat>
            <c:strRef>
              <c:f>Sheet1!$A$2:$A$7</c:f>
              <c:strCache>
                <c:ptCount val="6"/>
                <c:pt idx="0">
                  <c:v>FY2026F</c:v>
                </c:pt>
                <c:pt idx="1">
                  <c:v>FY2027B</c:v>
                </c:pt>
                <c:pt idx="2">
                  <c:v>FY2028</c:v>
                </c:pt>
                <c:pt idx="3">
                  <c:v>FY2029</c:v>
                </c:pt>
                <c:pt idx="4">
                  <c:v>FY2030</c:v>
                </c:pt>
                <c:pt idx="5">
                  <c:v>FY2031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116.7</c:v>
                </c:pt>
                <c:pt idx="1">
                  <c:v>126.1</c:v>
                </c:pt>
                <c:pt idx="2">
                  <c:v>141.1</c:v>
                </c:pt>
                <c:pt idx="3">
                  <c:v>153.5</c:v>
                </c:pt>
                <c:pt idx="4">
                  <c:v>156.4</c:v>
                </c:pt>
                <c:pt idx="5">
                  <c:v>159.2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cat>
            <c:strRef>
              <c:f>Sheet1!$A$2:$A$9</c:f>
              <c:strCache>
                <c:ptCount val="8"/>
                <c:pt idx="0">
                  <c:v>FY2026F
1,242</c:v>
                </c:pt>
                <c:pt idx="1">
                  <c:v>Volume
+209</c:v>
                </c:pt>
                <c:pt idx="2">
                  <c:v>Price
+1,371</c:v>
                </c:pt>
                <c:pt idx="3">
                  <c:v>Variable cost
inflation
-928</c:v>
                </c:pt>
                <c:pt idx="4">
                  <c:v>Fixed cost
inflation
-160</c:v>
                </c:pt>
                <c:pt idx="5">
                  <c:v>Growth
projects
+90</c:v>
                </c:pt>
                <c:pt idx="6">
                  <c:v>Corporate
-23</c:v>
                </c:pt>
                <c:pt idx="7">
                  <c:v>FY2031
1,800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1241.7</c:v>
                </c:pt>
                <c:pt idx="2">
                  <c:v>1450.8</c:v>
                </c:pt>
                <c:pt idx="3">
                  <c:v>1893.4</c:v>
                </c:pt>
                <c:pt idx="4">
                  <c:v>1733.1</c:v>
                </c:pt>
                <c:pt idx="5">
                  <c:v>1733.1</c:v>
                </c:pt>
                <c:pt idx="6">
                  <c:v>1800.3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Sheet1!$A$2:$A$9</c:f>
              <c:strCache>
                <c:ptCount val="8"/>
                <c:pt idx="0">
                  <c:v>FY2026F
1,242</c:v>
                </c:pt>
                <c:pt idx="1">
                  <c:v>Volume
+209</c:v>
                </c:pt>
                <c:pt idx="2">
                  <c:v>Price
+1,371</c:v>
                </c:pt>
                <c:pt idx="3">
                  <c:v>Variable cost
inflation
-928</c:v>
                </c:pt>
                <c:pt idx="4">
                  <c:v>Fixed cost
inflation
-160</c:v>
                </c:pt>
                <c:pt idx="5">
                  <c:v>Growth
projects
+90</c:v>
                </c:pt>
                <c:pt idx="6">
                  <c:v>Corporate
-23</c:v>
                </c:pt>
                <c:pt idx="7">
                  <c:v>FY2031
1,800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1241.7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1800.3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37863C"/>
            </a:solidFill>
          </c:spPr>
          <c:cat>
            <c:strRef>
              <c:f>Sheet1!$A$2:$A$9</c:f>
              <c:strCache>
                <c:ptCount val="8"/>
                <c:pt idx="0">
                  <c:v>FY2026F
1,242</c:v>
                </c:pt>
                <c:pt idx="1">
                  <c:v>Volume
+209</c:v>
                </c:pt>
                <c:pt idx="2">
                  <c:v>Price
+1,371</c:v>
                </c:pt>
                <c:pt idx="3">
                  <c:v>Variable cost
inflation
-928</c:v>
                </c:pt>
                <c:pt idx="4">
                  <c:v>Fixed cost
inflation
-160</c:v>
                </c:pt>
                <c:pt idx="5">
                  <c:v>Growth
projects
+90</c:v>
                </c:pt>
                <c:pt idx="6">
                  <c:v>Corporate
-23</c:v>
                </c:pt>
                <c:pt idx="7">
                  <c:v>FY2031
1,800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209.1</c:v>
                </c:pt>
                <c:pt idx="2">
                  <c:v>1370.9</c:v>
                </c:pt>
                <c:pt idx="3">
                  <c:v>0</c:v>
                </c:pt>
                <c:pt idx="4">
                  <c:v>0</c:v>
                </c:pt>
                <c:pt idx="5">
                  <c:v>90.5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Sheet1!$A$2:$A$9</c:f>
              <c:strCache>
                <c:ptCount val="8"/>
                <c:pt idx="0">
                  <c:v>FY2026F
1,242</c:v>
                </c:pt>
                <c:pt idx="1">
                  <c:v>Volume
+209</c:v>
                </c:pt>
                <c:pt idx="2">
                  <c:v>Price
+1,371</c:v>
                </c:pt>
                <c:pt idx="3">
                  <c:v>Variable cost
inflation
-928</c:v>
                </c:pt>
                <c:pt idx="4">
                  <c:v>Fixed cost
inflation
-160</c:v>
                </c:pt>
                <c:pt idx="5">
                  <c:v>Growth
projects
+90</c:v>
                </c:pt>
                <c:pt idx="6">
                  <c:v>Corporate
-23</c:v>
                </c:pt>
                <c:pt idx="7">
                  <c:v>FY2031
1,800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928.3</c:v>
                </c:pt>
                <c:pt idx="4">
                  <c:v>160.3</c:v>
                </c:pt>
                <c:pt idx="5">
                  <c:v>0</c:v>
                </c:pt>
                <c:pt idx="6">
                  <c:v>23.3</c:v>
                </c:pt>
                <c:pt idx="7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FY2026 budget</c:v>
                </c:pt>
              </c:strCache>
            </c:strRef>
          </c:tx>
          <c:spPr>
            <a:solidFill>
              <a:srgbClr val="D9E1F2"/>
            </a:solidFill>
          </c:spPr>
          <c:cat>
            <c:strRef>
              <c:f>Sheet1!$A$2:$A$5</c:f>
              <c:strCache>
                <c:ptCount val="4"/>
                <c:pt idx="0">
                  <c:v>Aggregates</c:v>
                </c:pt>
                <c:pt idx="1">
                  <c:v>Cement</c:v>
                </c:pt>
                <c:pt idx="2">
                  <c:v>Ready-Mix Concrete</c:v>
                </c:pt>
                <c:pt idx="3">
                  <c:v>Asphalt &amp; Paving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162.0</c:v>
                </c:pt>
                <c:pt idx="1">
                  <c:v>142.0</c:v>
                </c:pt>
                <c:pt idx="2">
                  <c:v>84.0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to date (Sep)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Aggregates</c:v>
                </c:pt>
                <c:pt idx="1">
                  <c:v>Cement</c:v>
                </c:pt>
                <c:pt idx="2">
                  <c:v>Ready-Mix Concrete</c:v>
                </c:pt>
                <c:pt idx="3">
                  <c:v>Asphalt &amp; Paving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104.4</c:v>
                </c:pt>
                <c:pt idx="1">
                  <c:v>103.4</c:v>
                </c:pt>
                <c:pt idx="2">
                  <c:v>63.8</c:v>
                </c:pt>
                <c:pt idx="3">
                  <c:v>31.3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Full-year forecast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Aggregates</c:v>
                </c:pt>
                <c:pt idx="1">
                  <c:v>Cement</c:v>
                </c:pt>
                <c:pt idx="2">
                  <c:v>Ready-Mix Concrete</c:v>
                </c:pt>
                <c:pt idx="3">
                  <c:v>Asphalt &amp; Paving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150.4</c:v>
                </c:pt>
                <c:pt idx="1">
                  <c:v>138.7</c:v>
                </c:pt>
                <c:pt idx="2">
                  <c:v>82.8</c:v>
                </c:pt>
                <c:pt idx="3">
                  <c:v>44.9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Maintenance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FY2027</c:v>
                </c:pt>
                <c:pt idx="1">
                  <c:v>FY2028</c:v>
                </c:pt>
                <c:pt idx="2">
                  <c:v>FY2029</c:v>
                </c:pt>
                <c:pt idx="3">
                  <c:v>FY2030</c:v>
                </c:pt>
                <c:pt idx="4">
                  <c:v>FY2031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329.3</c:v>
                </c:pt>
                <c:pt idx="1">
                  <c:v>349.6</c:v>
                </c:pt>
                <c:pt idx="2">
                  <c:v>370.2</c:v>
                </c:pt>
                <c:pt idx="3">
                  <c:v>389.7</c:v>
                </c:pt>
                <c:pt idx="4">
                  <c:v>410.2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BF8F00"/>
            </a:solidFill>
          </c:spPr>
          <c:cat>
            <c:strRef>
              <c:f>Sheet1!$A$2:$A$6</c:f>
              <c:strCache>
                <c:ptCount val="5"/>
                <c:pt idx="0">
                  <c:v>FY2027</c:v>
                </c:pt>
                <c:pt idx="1">
                  <c:v>FY2028</c:v>
                </c:pt>
                <c:pt idx="2">
                  <c:v>FY2029</c:v>
                </c:pt>
                <c:pt idx="3">
                  <c:v>FY2030</c:v>
                </c:pt>
                <c:pt idx="4">
                  <c:v>FY2031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235.0</c:v>
                </c:pt>
                <c:pt idx="1">
                  <c:v>136.0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FY2027 Budget &amp; Five-Year Strategic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Granite Peak Materials Group  |  Board of Directors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D9E1F2"/>
                </a:solidFill>
                <a:latin typeface="Calibri"/>
              </a:defRPr>
            </a:pPr>
            <a:r>
              <a:t>Illustrative company and figures for a portfolio project. Macro data: FRED, Federal Reserve Bank of St. Louis.</a:t>
            </a:r>
          </a:p>
          <a:p>
            <a:pPr>
              <a:spcAft>
                <a:spcPts val="600"/>
              </a:spcAft>
              <a:defRPr sz="1300" b="0">
                <a:solidFill>
                  <a:srgbClr val="D9E1F2"/>
                </a:solidFill>
                <a:latin typeface="Calibri"/>
              </a:defRPr>
            </a:pPr>
            <a:r>
              <a:t>Prepared by Kshama Upadhyay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Base case; FY2026 is the latest 9+3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FY2027 budget: revenue $6,348M (+5.2%) and EBITDA $1,333M (+7.4%), margin 21.0%.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Five-year plan: revenue grows 5.4% a year to $7,864M and EBITDA 7.7% a year to $1,800M by FY2031; margin expands 2.3 pts.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Price is the main lever: +$1,371M of the +$559M EBITDA increase, offset by $1,089M of cost inflation. Volume adds $209M, growth projects $90M.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Capital: $2,220M of capex over FY2027-FY2031 ($371M growth); cumulative free cash flow $4,117M, 51.6% of EBITDA.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FY2026 capex is forecast $21M under budget, mainly from the Southeast quarry permitting delay; kiln project is $6M over approval.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2 growth projects (G4, G6) fall below the 8.5% hurdle rate; we recommend re-scoping them before release of funds.</a:t>
            </a:r>
          </a:p>
          <a:p>
            <a:pPr>
              <a:spcAft>
                <a:spcPts val="600"/>
              </a:spcAft>
              <a:defRPr sz="1700" b="0">
                <a:solidFill>
                  <a:srgbClr val="595959"/>
                </a:solidFill>
                <a:latin typeface="Calibri"/>
              </a:defRPr>
            </a:pPr>
            <a:r>
              <a:t>Downside (housing and highway volumes -4/-3 pts in FY2027-28, price -1 pt): FY2031 EBITDA $1,211M, still $2,948M of five-year free cash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Macro: construction demand is flat, highway spending still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Annual averages, indexed to 2019 = 100 (2026 = year to date). Source: FRED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7498079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46304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2026 year to date vs. 2025: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Housing starts -1.1%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Total construction spending -2.9%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Highway &amp; street spending +2.1%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Construction materials prices +8.1%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30-year mortgage rate 7.32% (2026-10-22)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Plan assumes housing recovers from FY2028 as rates ease; highway growth slows to 2% from FY2029.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Five-year plan: EBITDA grows from $1,242 M to $1,800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EBITDA by operating company before corporate costs; base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463040"/>
          <a:ext cx="42976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FY2026F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FY2027B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FY2031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1,242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1,333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Capex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417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564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Free cash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3749039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Aggregates carries the plan: 48.0% of FY2031 operating EBITDA at a 40.1% margin.</a:t>
            </a:r>
          </a:p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Intercompany sales of $455M are eliminated in the FY2027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EBITDA bridge FY2026F to FY2031: price more than covers cost inflation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Base case, $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Operating companies: aggregates and cement drive margin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1097280"/>
                <a:gridCol w="1097280"/>
                <a:gridCol w="1005840"/>
                <a:gridCol w="114300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Operating company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Volume driver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FY26F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FY31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 FY26F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 FY31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Aggregates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Highway &amp; street construction spending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Cement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Total construction spending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1,467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1,874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29.6%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30.6%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Ready-Mix Concrete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Housing starts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Asphalt &amp; Paving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Highway &amp; street construction spending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946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1,233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Intercompany eliminations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-433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-570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Group (after corporate costs)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6,032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7,864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20.6%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Volumes follow their end market: aggregates and asphalt track highway spending, cement tracks total construction, ready-mix tracks housing starts.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Ready-mix and asphalt margins stay flat: price increases only keep pace with cement, aggregates and energy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CAPEX: FY2026 tracking under budget; $2,220 M five-year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864"/>
                </a:solidFill>
                <a:latin typeface="Calibri"/>
              </a:defRPr>
            </a:pPr>
            <a:r>
              <a:t>FY2026 capex by operating company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508760"/>
          <a:ext cx="57607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F3864"/>
                </a:solidFill>
                <a:latin typeface="Calibri"/>
              </a:defRPr>
            </a:pPr>
            <a:r>
              <a:t>Five-year capex plan: maintenance vs. growth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508760"/>
          <a:ext cx="539496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FY2026: budget $438M, spent $303M through September, forecast $417M ($21M under). Flagged: Asphalt &amp; Paving 10.3% under.</a:t>
            </a:r>
          </a:p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FY2027 peaks at $564M as the quarry, kiln and terminal projects overlap; capex runs 1.01x D&amp;A over the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Growth projects: six clear the hurdle rate, two need re-scoping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After-tax cash flows over 20 years, NPV at 8.5% WACC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651760"/>
                <a:gridCol w="1554480"/>
                <a:gridCol w="914400"/>
                <a:gridCol w="914400"/>
                <a:gridCol w="822960"/>
                <a:gridCol w="731520"/>
                <a:gridCol w="731520"/>
                <a:gridCol w="91440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Operating company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Forecast cost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vs. approved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 service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NPV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Southeast greenfield quarry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Aggregates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35.0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Delayed: permitting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Rail-served distribution yard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Aggregates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18.8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Hot-mix plant bolt-on 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Asphalt &amp; Paving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Plant automation (8 plants)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Ready-Mix Concrete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13.2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On track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Kiln efficiency and alternative fuels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Cement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+6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Over budget: equipment cost +$6M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Recycled asphalt (RAP) upgrade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Asphalt &amp; Paving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10.9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15.2%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Delayed: vendor lead time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Two new Texas plants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Ready-Mix Concrete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G4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Import terminal expansion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Cement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-2.9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C00000"/>
                          </a:solidFill>
                          <a:latin typeface="Calibri"/>
                        </a:defRPr>
                      </a:pPr>
                      <a:r>
                        <a:t>7.6%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Approved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G4, G6 return 7.6%, 8.3% against an 8.5% hurdle: recommend re-scoping (phasing, lower cost) before releasing FY2027 funds.</a:t>
            </a:r>
          </a:p>
          <a:p>
            <a:pPr>
              <a:spcAft>
                <a:spcPts val="600"/>
              </a:spcAft>
              <a:defRPr sz="1400" b="0">
                <a:solidFill>
                  <a:srgbClr val="595959"/>
                </a:solidFill>
                <a:latin typeface="Calibri"/>
              </a:defRPr>
            </a:pPr>
            <a:r>
              <a:t>G1 (Southeast quarry) has the highest value but a permitting delay; $9M of FY2026 spend moved into FY2027.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Scenarios: the plan still generates cash in a downturn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Downside: volume -4 / -3 / -1 pts in FY2027-29 and price -1 pt a year. Upside: volume +1.5 to +2 pts, price +0.5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69494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37160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Downside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Upside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FY2027 budget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FY2027 budget EBITDA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1,178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1,333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1,401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FY2031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6,916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8,583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FY2031 EBITDA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1,211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2,207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FY2031 EBITDA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EBITDA CAGR FY26-31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7.7%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12.2%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Five-year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Five-year free cash flow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2,948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4,117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595959"/>
                          </a:solidFill>
                          <a:latin typeface="Calibri"/>
                        </a:defRPr>
                      </a:pPr>
                      <a:r>
                        <a:t>4,806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46304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In the downside, FY2031 EBITDA is $589M below base and slightly below FY2026.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Maintenance capex scales with revenue, so capex falls with volume and cash conversion holds.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Growth capex is unchanged across scenarios; G4, G6 and G8 are the first projects to defer if the downside develops.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F3864"/>
                </a:solidFill>
                <a:latin typeface="Calibri"/>
              </a:defRPr>
            </a:pPr>
            <a:r>
              <a:t>Key risks and decisions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Granite Peak Materials Group (illustrative) | FY2027 Budget &amp; Strategic Plan | $ millions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59595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F3864"/>
                </a:solidFill>
                <a:latin typeface="Calibri"/>
              </a:defRPr>
            </a:pPr>
            <a:r>
              <a:t>Key risks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Federal highway funding: IIJA surface transportation funding was authorized through FY2026 (September 2026); the size and timing of the next authorization drive aggregates and asphalt volumes.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Housing affordability: the 30-year mortgage rate is 7.32% (latest week) and housing starts are flat; ready-mix is most exposed.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Cost inflation: energy, labor and freight above plan would erode the price-cost spread.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Permitting: greenfield quarry timing remains uncertain.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F3864"/>
                </a:solidFill>
                <a:latin typeface="Calibri"/>
              </a:defRPr>
            </a:pPr>
            <a:r>
              <a:t>Decisions requested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Approve the FY2027 budget: revenue $6,348M, EBITDA $1,333M.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Approve the FY2027 capex envelope of $564M.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Approve the $6M cost increase on the kiln efficiency project (G3).</a:t>
            </a:r>
          </a:p>
          <a:p>
            <a:pPr>
              <a:spcAft>
                <a:spcPts val="600"/>
              </a:spcAft>
              <a:defRPr sz="1500" b="0">
                <a:solidFill>
                  <a:srgbClr val="595959"/>
                </a:solidFill>
                <a:latin typeface="Calibri"/>
              </a:defRPr>
            </a:pPr>
            <a:r>
              <a:t>Return G4 and G6 with re-scoped business cases in Q2 FY2027.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